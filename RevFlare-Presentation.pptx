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011680"/>
            <a:ext cx="1828800" cy="38100"/>
          </a:xfrm>
          <a:prstGeom prst="rect">
            <a:avLst/>
          </a:prstGeom>
          <a:solidFill>
            <a:srgbClr val="7C7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2860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200" b="1">
                <a:solidFill>
                  <a:srgbClr val="F7F8F8"/>
                </a:solidFill>
                <a:latin typeface="Calibri"/>
              </a:defRPr>
            </a:pPr>
            <a:r>
              <a:t>RevFlare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4747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0">
                <a:solidFill>
                  <a:srgbClr val="7C7FFF"/>
                </a:solidFill>
                <a:latin typeface="Calibri"/>
              </a:defRPr>
            </a:pPr>
            <a:r>
              <a:t>AI-Powered Sales Intelligence for Cloudflare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A8F98"/>
                </a:solidFill>
                <a:latin typeface="Calibri"/>
              </a:defRPr>
            </a:pPr>
            <a:r>
              <a:t>A single Cloudflare Worker powering deep account research, persona-curated outreach, competitive intelligence, threat monitoring, and autonomous pipeline generation.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9436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A5E66"/>
                </a:solidFill>
                <a:latin typeface="Calibri"/>
              </a:defRPr>
            </a:pPr>
            <a:r>
              <a:t>Built by Arun Potta  |  Powered by Cloudflare Workers + 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1371600" cy="38100"/>
          </a:xfrm>
          <a:prstGeom prst="rect">
            <a:avLst/>
          </a:prstGeom>
          <a:solidFill>
            <a:srgbClr val="7C7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858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7F8F8"/>
                </a:solidFill>
                <a:latin typeface="Calibri"/>
              </a:defRPr>
            </a:pPr>
            <a:r>
              <a:t>Business Value &amp; ROI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A8F98"/>
                </a:solidFill>
                <a:latin typeface="Calibri"/>
              </a:defRPr>
            </a:pPr>
            <a:r>
              <a:t>RevFlare transforms how sales teams prospect, research, and close deals.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691640"/>
            <a:ext cx="5029200" cy="502920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691640"/>
            <a:ext cx="38100" cy="50292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173736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4D399"/>
                </a:solidFill>
                <a:latin typeface="Calibri"/>
              </a:defRPr>
            </a:pPr>
            <a:r>
              <a:t>10x Faster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947672"/>
            <a:ext cx="4572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C9D4"/>
                </a:solidFill>
                <a:latin typeface="Calibri"/>
              </a:defRPr>
            </a:pPr>
            <a:r>
              <a:t>8 live probes in parallel. 45 min -&gt; 10 sec per account.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331720"/>
            <a:ext cx="5029200" cy="502920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14400" y="2331720"/>
            <a:ext cx="38100" cy="50292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37744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60A5FA"/>
                </a:solidFill>
                <a:latin typeface="Calibri"/>
              </a:defRPr>
            </a:pPr>
            <a:r>
              <a:t>3x Higher Reply Rates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587752"/>
            <a:ext cx="4572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C9D4"/>
                </a:solidFill>
                <a:latin typeface="Calibri"/>
              </a:defRPr>
            </a:pPr>
            <a:r>
              <a:t>25 persona-specific variants with live data. Not templates.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2971800"/>
            <a:ext cx="5029200" cy="502920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71800"/>
            <a:ext cx="38100" cy="50292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301752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78BFA"/>
                </a:solidFill>
                <a:latin typeface="Calibri"/>
              </a:defRPr>
            </a:pPr>
            <a:r>
              <a:t>100% Pipeline Coverage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227832"/>
            <a:ext cx="4572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C9D4"/>
                </a:solidFill>
                <a:latin typeface="Calibri"/>
              </a:defRPr>
            </a:pPr>
            <a:r>
              <a:t>AI agent auto-generates opps with realistic ACV.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3611879"/>
            <a:ext cx="5029200" cy="502920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4400" y="3611879"/>
            <a:ext cx="38100" cy="50292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3657599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BBF24"/>
                </a:solidFill>
                <a:latin typeface="Calibri"/>
              </a:defRPr>
            </a:pPr>
            <a:r>
              <a:t>$0 Infrastructure Cost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867911"/>
            <a:ext cx="4572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C9D4"/>
                </a:solidFill>
                <a:latin typeface="Calibri"/>
              </a:defRPr>
            </a:pPr>
            <a:r>
              <a:t>Runs entirely on Cloudflare. No servers, no SaaS fees.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155448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87171"/>
                </a:solidFill>
                <a:latin typeface="Calibri"/>
              </a:defRPr>
            </a:pPr>
            <a:r>
              <a:t>WITHOUT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155448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4D399"/>
                </a:solidFill>
                <a:latin typeface="Calibri"/>
              </a:defRPr>
            </a:pPr>
            <a:r>
              <a:t>WITH REVFLARE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1874519"/>
            <a:ext cx="2468880" cy="457200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1920239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87171"/>
                </a:solidFill>
                <a:latin typeface="Calibri"/>
              </a:defRPr>
            </a:pPr>
            <a:r>
              <a:t>45 min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2121407"/>
            <a:ext cx="21945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A8F98"/>
                </a:solidFill>
                <a:latin typeface="Calibri"/>
              </a:defRPr>
            </a:pPr>
            <a:r>
              <a:t>Research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0" y="2468879"/>
            <a:ext cx="2468880" cy="457200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37960" y="2514599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87171"/>
                </a:solidFill>
                <a:latin typeface="Calibri"/>
              </a:defRPr>
            </a:pPr>
            <a:r>
              <a:t>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7960" y="2715767"/>
            <a:ext cx="21945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A8F98"/>
                </a:solidFill>
                <a:latin typeface="Calibri"/>
              </a:defRPr>
            </a:pPr>
            <a:r>
              <a:t>Reply rate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3063239"/>
            <a:ext cx="2468880" cy="457200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37960" y="3108959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87171"/>
                </a:solidFill>
                <a:latin typeface="Calibri"/>
              </a:defRPr>
            </a:pPr>
            <a:r>
              <a:t>Manual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37960" y="3310127"/>
            <a:ext cx="21945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A8F98"/>
                </a:solidFill>
                <a:latin typeface="Calibri"/>
              </a:defRPr>
            </a:pPr>
            <a:r>
              <a:t>Pipeline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3657600"/>
            <a:ext cx="2468880" cy="457200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37960" y="370332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87171"/>
                </a:solidFill>
                <a:latin typeface="Calibri"/>
              </a:defRPr>
            </a:pPr>
            <a:r>
              <a:t>10+ tabs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37960" y="3904488"/>
            <a:ext cx="21945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A8F98"/>
                </a:solidFill>
                <a:latin typeface="Calibri"/>
              </a:defRPr>
            </a:pPr>
            <a:r>
              <a:t>Per prospect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144000" y="1874519"/>
            <a:ext cx="2468880" cy="457200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281160" y="1920239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4D399"/>
                </a:solidFill>
                <a:latin typeface="Calibri"/>
              </a:defRPr>
            </a:pPr>
            <a:r>
              <a:t>10 sec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81160" y="2121407"/>
            <a:ext cx="21945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A8F98"/>
                </a:solidFill>
                <a:latin typeface="Calibri"/>
              </a:defRPr>
            </a:pPr>
            <a:r>
              <a:t>Research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144000" y="2468879"/>
            <a:ext cx="2468880" cy="457200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281160" y="2514599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4D399"/>
                </a:solidFill>
                <a:latin typeface="Calibri"/>
              </a:defRPr>
            </a:pPr>
            <a:r>
              <a:t>6-8%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81160" y="2715767"/>
            <a:ext cx="21945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A8F98"/>
                </a:solidFill>
                <a:latin typeface="Calibri"/>
              </a:defRPr>
            </a:pPr>
            <a:r>
              <a:t>Reply rate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144000" y="3063239"/>
            <a:ext cx="2468880" cy="457200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281160" y="3108959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4D399"/>
                </a:solidFill>
                <a:latin typeface="Calibri"/>
              </a:defRPr>
            </a:pPr>
            <a:r>
              <a:t>1 click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81160" y="3310127"/>
            <a:ext cx="21945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A8F98"/>
                </a:solidFill>
                <a:latin typeface="Calibri"/>
              </a:defRPr>
            </a:pPr>
            <a:r>
              <a:t>Pipeline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144000" y="3657600"/>
            <a:ext cx="2468880" cy="457200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81160" y="370332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4D399"/>
                </a:solidFill>
                <a:latin typeface="Calibri"/>
              </a:defRPr>
            </a:pPr>
            <a:r>
              <a:t>1 platform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81160" y="3904488"/>
            <a:ext cx="21945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A8F98"/>
                </a:solidFill>
                <a:latin typeface="Calibri"/>
              </a:defRPr>
            </a:pPr>
            <a:r>
              <a:t>Unified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14400" y="4434840"/>
            <a:ext cx="10332720" cy="411480"/>
          </a:xfrm>
          <a:prstGeom prst="roundRect">
            <a:avLst/>
          </a:prstGeom>
          <a:solidFill>
            <a:srgbClr val="1E1F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14400" y="446227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4D399"/>
                </a:solidFill>
                <a:latin typeface="Calibri"/>
              </a:defRPr>
            </a:pPr>
            <a:r>
              <a:t>Annual value: 10 reps x 7.5 hrs/week saved x 50 weeks x $75/hr = $281,250 in recovered selling time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512064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5A5E66"/>
                </a:solidFill>
                <a:latin typeface="Calibri"/>
              </a:defRPr>
            </a:pPr>
            <a:r>
              <a:t>CLOUDFLARE EDGE ARCHITECTURE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14400" y="5440680"/>
            <a:ext cx="1645920" cy="1051560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14400" y="5440680"/>
            <a:ext cx="1645920" cy="38100"/>
          </a:xfrm>
          <a:prstGeom prst="rect">
            <a:avLst/>
          </a:prstGeom>
          <a:solidFill>
            <a:srgbClr val="7C7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24128" y="562356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7C7FFF"/>
                </a:solidFill>
                <a:latin typeface="Calibri"/>
              </a:defRPr>
            </a:pPr>
            <a:r>
              <a:t>Workers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24128" y="589788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A8F98"/>
                </a:solidFill>
                <a:latin typeface="Calibri"/>
              </a:defRPr>
            </a:pPr>
            <a:r>
              <a:t>App server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743200" y="5440680"/>
            <a:ext cx="1645920" cy="1051560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743200" y="5440680"/>
            <a:ext cx="1645920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852928" y="562356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4D399"/>
                </a:solidFill>
                <a:latin typeface="Calibri"/>
              </a:defRPr>
            </a:pPr>
            <a:r>
              <a:t>D1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852928" y="589788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A8F98"/>
                </a:solidFill>
                <a:latin typeface="Calibri"/>
              </a:defRPr>
            </a:pPr>
            <a:r>
              <a:t>Database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572000" y="5440680"/>
            <a:ext cx="1645920" cy="1051560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572000" y="5440680"/>
            <a:ext cx="1645920" cy="381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681728" y="562356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A78BFA"/>
                </a:solidFill>
                <a:latin typeface="Calibri"/>
              </a:defRPr>
            </a:pPr>
            <a:r>
              <a:t>Workers AI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681728" y="589788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A8F98"/>
                </a:solidFill>
                <a:latin typeface="Calibri"/>
              </a:defRPr>
            </a:pPr>
            <a:r>
              <a:t>3 LLMs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400800" y="5440680"/>
            <a:ext cx="1645920" cy="1051560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400800" y="5440680"/>
            <a:ext cx="1645920" cy="381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510528" y="562356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0A5FA"/>
                </a:solidFill>
                <a:latin typeface="Calibri"/>
              </a:defRPr>
            </a:pPr>
            <a:r>
              <a:t>Browser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510528" y="589788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A8F98"/>
                </a:solidFill>
                <a:latin typeface="Calibri"/>
              </a:defRPr>
            </a:pPr>
            <a:r>
              <a:t>Scraping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229600" y="5440680"/>
            <a:ext cx="1645920" cy="1051560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229600" y="5440680"/>
            <a:ext cx="1645920" cy="3810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339328" y="562356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BBF24"/>
                </a:solidFill>
                <a:latin typeface="Calibri"/>
              </a:defRPr>
            </a:pPr>
            <a:r>
              <a:t>KV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339328" y="589788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A8F98"/>
                </a:solidFill>
                <a:latin typeface="Calibri"/>
              </a:defRPr>
            </a:pPr>
            <a:r>
              <a:t>Cache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0058400" y="5440680"/>
            <a:ext cx="1645920" cy="1051560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0058400" y="5440680"/>
            <a:ext cx="1645920" cy="381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168128" y="562356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87171"/>
                </a:solidFill>
                <a:latin typeface="Calibri"/>
              </a:defRPr>
            </a:pPr>
            <a:r>
              <a:t>Access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168128" y="589788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A8F98"/>
                </a:solidFill>
                <a:latin typeface="Calibri"/>
              </a:defRPr>
            </a:pPr>
            <a:r>
              <a:t>Auth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1371600" cy="38100"/>
          </a:xfrm>
          <a:prstGeom prst="rect">
            <a:avLst/>
          </a:prstGeom>
          <a:solidFill>
            <a:srgbClr val="7C7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F8F8"/>
                </a:solidFill>
                <a:latin typeface="Calibri"/>
              </a:defRPr>
            </a:pPr>
            <a:r>
              <a:t>Account Intelligence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A8F98"/>
                </a:solidFill>
                <a:latin typeface="Calibri"/>
              </a:defRPr>
            </a:pPr>
            <a:r>
              <a:t>2,307 accounts with IT spend, competitor stack, and engagement signals at a glance.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11155680" cy="5257800"/>
          </a:xfrm>
          <a:prstGeom prst="roundRect">
            <a:avLst/>
          </a:prstGeom>
          <a:solidFill>
            <a:srgbClr val="0C0D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17320"/>
            <a:ext cx="8266176" cy="5166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1371600" cy="38100"/>
          </a:xfrm>
          <a:prstGeom prst="rect">
            <a:avLst/>
          </a:prstGeom>
          <a:solidFill>
            <a:srgbClr val="7C7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F8F8"/>
                </a:solidFill>
                <a:latin typeface="Calibri"/>
              </a:defRPr>
            </a:pPr>
            <a:r>
              <a:t>Pipeline &amp; AI Lead Scoring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A8F98"/>
                </a:solidFill>
                <a:latin typeface="Calibri"/>
              </a:defRPr>
            </a:pPr>
            <a:r>
              <a:t>Left: AI Opportunity Agent auto-generates deals with ACV.  Right: 8-factor lead scoring ranks every account 0-100.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" y="1280160"/>
            <a:ext cx="5806440" cy="5303520"/>
          </a:xfrm>
          <a:prstGeom prst="roundRect">
            <a:avLst/>
          </a:prstGeom>
          <a:solidFill>
            <a:srgbClr val="0C0D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25880"/>
            <a:ext cx="5715000" cy="357187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263640" y="1280160"/>
            <a:ext cx="5715000" cy="5303520"/>
          </a:xfrm>
          <a:prstGeom prst="roundRect">
            <a:avLst/>
          </a:prstGeom>
          <a:solidFill>
            <a:srgbClr val="0C0D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ead_sco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325880"/>
            <a:ext cx="5623560" cy="351472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371600" cy="38100"/>
          </a:xfrm>
          <a:prstGeom prst="rect">
            <a:avLst/>
          </a:prstGeom>
          <a:solidFill>
            <a:srgbClr val="7C7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943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7F8F8"/>
                </a:solidFill>
                <a:latin typeface="Calibri"/>
              </a:defRPr>
            </a:pPr>
            <a:r>
              <a:t>15 Features + Competitive Intelligence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34440"/>
            <a:ext cx="1371600" cy="731520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371600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344168"/>
            <a:ext cx="1234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4D399"/>
                </a:solidFill>
                <a:latin typeface="Calibri"/>
              </a:defRPr>
            </a:pPr>
            <a:r>
              <a:t>Lead Scoring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1581912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A8F98"/>
                </a:solidFill>
                <a:latin typeface="Calibri"/>
              </a:defRPr>
            </a:pPr>
            <a:r>
              <a:t>AI 0-100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65960" y="1234440"/>
            <a:ext cx="1371600" cy="731520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965960" y="1234440"/>
            <a:ext cx="1371600" cy="381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39112" y="1344168"/>
            <a:ext cx="1234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0A5FA"/>
                </a:solidFill>
                <a:latin typeface="Calibri"/>
              </a:defRPr>
            </a:pPr>
            <a:r>
              <a:t>ROI Calc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39112" y="1581912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A8F98"/>
                </a:solidFill>
                <a:latin typeface="Calibri"/>
              </a:defRPr>
            </a:pPr>
            <a:r>
              <a:t>Savings est.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4720" y="1234440"/>
            <a:ext cx="1371600" cy="731520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74720" y="1234440"/>
            <a:ext cx="1371600" cy="381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872" y="1344168"/>
            <a:ext cx="1234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A78BFA"/>
                </a:solidFill>
                <a:latin typeface="Calibri"/>
              </a:defRPr>
            </a:pPr>
            <a:r>
              <a:t>Lookalikes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2" y="1581912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A8F98"/>
                </a:solidFill>
                <a:latin typeface="Calibri"/>
              </a:defRPr>
            </a:pPr>
            <a:r>
              <a:t>Match stack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83479" y="1234440"/>
            <a:ext cx="1371600" cy="731520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83479" y="1234440"/>
            <a:ext cx="1371600" cy="3810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56631" y="1344168"/>
            <a:ext cx="1234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BBF24"/>
                </a:solidFill>
                <a:latin typeface="Calibri"/>
              </a:defRPr>
            </a:pPr>
            <a:r>
              <a:t>Meeting Prep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56631" y="1581912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A8F98"/>
                </a:solidFill>
                <a:latin typeface="Calibri"/>
              </a:defRPr>
            </a:pPr>
            <a:r>
              <a:t>Call brief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92240" y="1234440"/>
            <a:ext cx="1371600" cy="731520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92240" y="1234440"/>
            <a:ext cx="1371600" cy="38100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65392" y="1344168"/>
            <a:ext cx="1234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B923C"/>
                </a:solidFill>
                <a:latin typeface="Calibri"/>
              </a:defRPr>
            </a:pPr>
            <a:r>
              <a:t>Sequences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65392" y="1581912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A8F98"/>
                </a:solidFill>
                <a:latin typeface="Calibri"/>
              </a:defRPr>
            </a:pPr>
            <a:r>
              <a:t>Multi-touch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103120"/>
            <a:ext cx="1371600" cy="731520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2103120"/>
            <a:ext cx="1371600" cy="381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0352" y="2212848"/>
            <a:ext cx="1234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87171"/>
                </a:solidFill>
                <a:latin typeface="Calibri"/>
              </a:defRPr>
            </a:pPr>
            <a:r>
              <a:t>Change Detect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" y="2450592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A8F98"/>
                </a:solidFill>
                <a:latin typeface="Calibri"/>
              </a:defRPr>
            </a:pPr>
            <a:r>
              <a:t>Infra scan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965960" y="2103120"/>
            <a:ext cx="1371600" cy="731520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965960" y="2103120"/>
            <a:ext cx="1371600" cy="38100"/>
          </a:xfrm>
          <a:prstGeom prst="rect">
            <a:avLst/>
          </a:prstGeom>
          <a:solidFill>
            <a:srgbClr val="7C7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39112" y="2212848"/>
            <a:ext cx="1234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7C7FFF"/>
                </a:solidFill>
                <a:latin typeface="Calibri"/>
              </a:defRPr>
            </a:pPr>
            <a:r>
              <a:t>A/B Testing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39112" y="2450592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A8F98"/>
                </a:solidFill>
                <a:latin typeface="Calibri"/>
              </a:defRPr>
            </a:pPr>
            <a:r>
              <a:t>2 variants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474720" y="2103120"/>
            <a:ext cx="1371600" cy="731520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474720" y="2103120"/>
            <a:ext cx="1371600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47872" y="2212848"/>
            <a:ext cx="1234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4D399"/>
                </a:solidFill>
                <a:latin typeface="Calibri"/>
              </a:defRPr>
            </a:pPr>
            <a:r>
              <a:t>Voice Notes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47872" y="2450592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A8F98"/>
                </a:solidFill>
                <a:latin typeface="Calibri"/>
              </a:defRPr>
            </a:pPr>
            <a:r>
              <a:t>To email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983479" y="2103120"/>
            <a:ext cx="1371600" cy="731520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983479" y="2103120"/>
            <a:ext cx="1371600" cy="381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56631" y="2212848"/>
            <a:ext cx="1234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87171"/>
                </a:solidFill>
                <a:latin typeface="Calibri"/>
              </a:defRPr>
            </a:pPr>
            <a:r>
              <a:t>Alerts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56631" y="2450592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A8F98"/>
                </a:solidFill>
                <a:latin typeface="Calibri"/>
              </a:defRPr>
            </a:pPr>
            <a:r>
              <a:t>Signals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492240" y="2103120"/>
            <a:ext cx="1371600" cy="731520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492240" y="2103120"/>
            <a:ext cx="1371600" cy="381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65392" y="2212848"/>
            <a:ext cx="1234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0A5FA"/>
                </a:solidFill>
                <a:latin typeface="Calibri"/>
              </a:defRPr>
            </a:pPr>
            <a:r>
              <a:t>Team Dash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65392" y="2450592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A8F98"/>
                </a:solidFill>
                <a:latin typeface="Calibri"/>
              </a:defRPr>
            </a:pPr>
            <a:r>
              <a:t>Leaderboard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7200" y="2971800"/>
            <a:ext cx="1371600" cy="731520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57200" y="2971800"/>
            <a:ext cx="1371600" cy="381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30352" y="3081528"/>
            <a:ext cx="1234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A78BFA"/>
                </a:solidFill>
                <a:latin typeface="Calibri"/>
              </a:defRPr>
            </a:pPr>
            <a:r>
              <a:t>Playbooks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30352" y="3319272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A8F98"/>
                </a:solidFill>
                <a:latin typeface="Calibri"/>
              </a:defRPr>
            </a:pPr>
            <a:r>
              <a:t>Templates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965960" y="2971800"/>
            <a:ext cx="1371600" cy="731520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965960" y="2971800"/>
            <a:ext cx="1371600" cy="3810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039112" y="3081528"/>
            <a:ext cx="1234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BBF24"/>
                </a:solidFill>
                <a:latin typeface="Calibri"/>
              </a:defRPr>
            </a:pPr>
            <a:r>
              <a:t>Search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039112" y="3319272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A8F98"/>
                </a:solidFill>
                <a:latin typeface="Calibri"/>
              </a:defRPr>
            </a:pPr>
            <a:r>
              <a:t>AI-ranked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474720" y="2971800"/>
            <a:ext cx="1371600" cy="731520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474720" y="2971800"/>
            <a:ext cx="1371600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547872" y="3081528"/>
            <a:ext cx="1234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4D399"/>
                </a:solidFill>
                <a:latin typeface="Calibri"/>
              </a:defRPr>
            </a:pPr>
            <a:r>
              <a:t>Pipeline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547872" y="3319272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A8F98"/>
                </a:solidFill>
                <a:latin typeface="Calibri"/>
              </a:defRPr>
            </a:pPr>
            <a:r>
              <a:t>ACV track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983479" y="2971800"/>
            <a:ext cx="1371600" cy="731520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983479" y="2971800"/>
            <a:ext cx="1371600" cy="38100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056631" y="3081528"/>
            <a:ext cx="1234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B923C"/>
                </a:solidFill>
                <a:latin typeface="Calibri"/>
              </a:defRPr>
            </a:pPr>
            <a:r>
              <a:t>Win/Loss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56631" y="3319272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A8F98"/>
                </a:solidFill>
                <a:latin typeface="Calibri"/>
              </a:defRPr>
            </a:pPr>
            <a:r>
              <a:t>Analysis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492240" y="2971800"/>
            <a:ext cx="1371600" cy="731520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492240" y="2971800"/>
            <a:ext cx="1371600" cy="38100"/>
          </a:xfrm>
          <a:prstGeom prst="rect">
            <a:avLst/>
          </a:prstGeom>
          <a:solidFill>
            <a:srgbClr val="7C7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65392" y="3081528"/>
            <a:ext cx="1234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7C7FFF"/>
                </a:solidFill>
                <a:latin typeface="Calibri"/>
              </a:defRPr>
            </a:pPr>
            <a:r>
              <a:t>Opp Agent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565392" y="3319272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A8F98"/>
                </a:solidFill>
                <a:latin typeface="Calibri"/>
              </a:defRPr>
            </a:pPr>
            <a:r>
              <a:t>Auto gen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001000" y="114300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5A5E66"/>
                </a:solidFill>
                <a:latin typeface="Calibri"/>
              </a:defRPr>
            </a:pPr>
            <a:r>
              <a:t>COMPETITIVE (12 CATEGORIES, 40+ RIVALS)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001000" y="1463040"/>
            <a:ext cx="3749039" cy="292608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119872" y="1499616"/>
            <a:ext cx="3520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C9D4"/>
                </a:solidFill>
                <a:latin typeface="Calibri"/>
              </a:defRPr>
            </a:pPr>
            <a:r>
              <a:t>CDN -- Akamai, CloudFront, Fastly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001000" y="1847088"/>
            <a:ext cx="3749039" cy="292608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119872" y="1883664"/>
            <a:ext cx="3520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C9D4"/>
                </a:solidFill>
                <a:latin typeface="Calibri"/>
              </a:defRPr>
            </a:pPr>
            <a:r>
              <a:t>WAF -- Imperva, AWS WAF, F5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8001000" y="2231136"/>
            <a:ext cx="3749039" cy="292608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119872" y="2267712"/>
            <a:ext cx="3520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C9D4"/>
                </a:solidFill>
                <a:latin typeface="Calibri"/>
              </a:defRPr>
            </a:pPr>
            <a:r>
              <a:t>DDoS -- Prolexic, AWS Shield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8001000" y="2615184"/>
            <a:ext cx="3749039" cy="292608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119872" y="2651760"/>
            <a:ext cx="3520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C9D4"/>
                </a:solidFill>
                <a:latin typeface="Calibri"/>
              </a:defRPr>
            </a:pPr>
            <a:r>
              <a:t>Zero Trust -- Zscaler, Palo Alto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8001000" y="2999232"/>
            <a:ext cx="3749039" cy="292608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119872" y="3035808"/>
            <a:ext cx="3520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C9D4"/>
                </a:solidFill>
                <a:latin typeface="Calibri"/>
              </a:defRPr>
            </a:pPr>
            <a:r>
              <a:t>Edge Compute -- Lambda@Edge, Vercel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8001000" y="3383280"/>
            <a:ext cx="3749039" cy="292608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119872" y="3419856"/>
            <a:ext cx="3520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C9D4"/>
                </a:solidFill>
                <a:latin typeface="Calibri"/>
              </a:defRPr>
            </a:pPr>
            <a:r>
              <a:t>DNS -- Route 53, NS1, Google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7200" y="3977639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5A5E66"/>
                </a:solidFill>
                <a:latin typeface="Calibri"/>
              </a:defRPr>
            </a:pPr>
            <a:r>
              <a:t>THREAT INTELLIGENCE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57200" y="4251960"/>
            <a:ext cx="2194560" cy="594360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457200" y="4251960"/>
            <a:ext cx="38100" cy="59436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94360" y="4297680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87171"/>
                </a:solidFill>
                <a:latin typeface="Calibri"/>
              </a:defRPr>
            </a:pPr>
            <a:r>
              <a:t>26 RSS Feeds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94360" y="4526280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A8F98"/>
                </a:solidFill>
                <a:latin typeface="Calibri"/>
              </a:defRPr>
            </a:pPr>
            <a:r>
              <a:t>Real-time incidents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2788920" y="4251960"/>
            <a:ext cx="2194560" cy="594360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2788920" y="4251960"/>
            <a:ext cx="38100" cy="59436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2926080" y="4297680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BBF24"/>
                </a:solidFill>
                <a:latin typeface="Calibri"/>
              </a:defRPr>
            </a:pPr>
            <a:r>
              <a:t>GDELT + 5 News APIs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926080" y="4526280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A8F98"/>
                </a:solidFill>
                <a:latin typeface="Calibri"/>
              </a:defRPr>
            </a:pPr>
            <a:r>
              <a:t>Google, Bing, NewsAPI, GNews, MediaStack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5120640" y="4251960"/>
            <a:ext cx="2194560" cy="594360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5120640" y="4251960"/>
            <a:ext cx="38100" cy="59436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257800" y="4297680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0A5FA"/>
                </a:solidFill>
                <a:latin typeface="Calibri"/>
              </a:defRPr>
            </a:pPr>
            <a:r>
              <a:t>Auto-Match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257800" y="4526280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A8F98"/>
                </a:solidFill>
                <a:latin typeface="Calibri"/>
              </a:defRPr>
            </a:pPr>
            <a:r>
              <a:t>By industry &amp; country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7452359" y="4251960"/>
            <a:ext cx="2194560" cy="594360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452359" y="4251960"/>
            <a:ext cx="38100" cy="5943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7589519" y="4297680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4D399"/>
                </a:solidFill>
                <a:latin typeface="Calibri"/>
              </a:defRPr>
            </a:pPr>
            <a:r>
              <a:t>Trigger Emails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589519" y="4526280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A8F98"/>
                </a:solidFill>
                <a:latin typeface="Calibri"/>
              </a:defRPr>
            </a:pPr>
            <a:r>
              <a:t>Incident outreach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9784080" y="4251960"/>
            <a:ext cx="2194560" cy="594360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9784080" y="4251960"/>
            <a:ext cx="38100" cy="59436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9921240" y="4297680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A78BFA"/>
                </a:solidFill>
                <a:latin typeface="Calibri"/>
              </a:defRPr>
            </a:pPr>
            <a:r>
              <a:t>Nightly Cron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921240" y="4526280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A8F98"/>
                </a:solidFill>
                <a:latin typeface="Calibri"/>
              </a:defRPr>
            </a:pPr>
            <a:r>
              <a:t>Daily scan + alerts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57200" y="507492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5A5E66"/>
                </a:solidFill>
                <a:latin typeface="Calibri"/>
              </a:defRPr>
            </a:pPr>
            <a:r>
              <a:t>SECURITY &amp; INTEGRATIONS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457200" y="5349240"/>
            <a:ext cx="1188720" cy="365760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457200" y="5349240"/>
            <a:ext cx="1188720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30352" y="542239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34D399"/>
                </a:solidFill>
                <a:latin typeface="Calibri"/>
              </a:defRPr>
            </a:pPr>
            <a:r>
              <a:t>Zero Trust Auth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1737360" y="5349240"/>
            <a:ext cx="1188720" cy="365760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737360" y="5349240"/>
            <a:ext cx="1188720" cy="381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1810512" y="542239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0A5FA"/>
                </a:solidFill>
                <a:latin typeface="Calibri"/>
              </a:defRPr>
            </a:pPr>
            <a:r>
              <a:t>AES-256-GCM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3017520" y="5349240"/>
            <a:ext cx="1188720" cy="365760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3017520" y="5349240"/>
            <a:ext cx="1188720" cy="381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3090672" y="542239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87171"/>
                </a:solidFill>
                <a:latin typeface="Calibri"/>
              </a:defRPr>
            </a:pPr>
            <a:r>
              <a:t>SSRF Block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4297679" y="5349240"/>
            <a:ext cx="1188720" cy="365760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4297679" y="5349240"/>
            <a:ext cx="1188720" cy="3810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4370831" y="542239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BBF24"/>
                </a:solidFill>
                <a:latin typeface="Calibri"/>
              </a:defRPr>
            </a:pPr>
            <a:r>
              <a:t>XSS Escaped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5577840" y="5349240"/>
            <a:ext cx="1188720" cy="365760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5577840" y="5349240"/>
            <a:ext cx="1188720" cy="381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650992" y="542239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A78BFA"/>
                </a:solidFill>
                <a:latin typeface="Calibri"/>
              </a:defRPr>
            </a:pPr>
            <a:r>
              <a:t>SOQL Safe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6858000" y="5349240"/>
            <a:ext cx="1188720" cy="365760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6858000" y="5349240"/>
            <a:ext cx="1188720" cy="38100"/>
          </a:xfrm>
          <a:prstGeom prst="rect">
            <a:avLst/>
          </a:prstGeom>
          <a:solidFill>
            <a:srgbClr val="7C7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931152" y="542239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7C7FFF"/>
                </a:solidFill>
                <a:latin typeface="Calibri"/>
              </a:defRPr>
            </a:pPr>
            <a:r>
              <a:t>CORS Locked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8138159" y="5349240"/>
            <a:ext cx="1188720" cy="365760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8138159" y="5349240"/>
            <a:ext cx="1188720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8211311" y="542239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34D399"/>
                </a:solidFill>
                <a:latin typeface="Calibri"/>
              </a:defRPr>
            </a:pPr>
            <a:r>
              <a:t>Gmail OAuth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9418319" y="5349240"/>
            <a:ext cx="1188720" cy="365760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9418319" y="5349240"/>
            <a:ext cx="1188720" cy="381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9491471" y="542239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0A5FA"/>
                </a:solidFill>
                <a:latin typeface="Calibri"/>
              </a:defRPr>
            </a:pPr>
            <a:r>
              <a:t>Salesforce OAuth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10698480" y="5349240"/>
            <a:ext cx="1188720" cy="365760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10698480" y="5349240"/>
            <a:ext cx="1188720" cy="381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10771632" y="542239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A78BFA"/>
                </a:solidFill>
                <a:latin typeface="Calibri"/>
              </a:defRPr>
            </a:pPr>
            <a:r>
              <a:t>Share Links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1371600" cy="38100"/>
          </a:xfrm>
          <a:prstGeom prst="rect">
            <a:avLst/>
          </a:prstGeom>
          <a:solidFill>
            <a:srgbClr val="7C7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F8F8"/>
                </a:solidFill>
                <a:latin typeface="Calibri"/>
              </a:defRPr>
            </a:pPr>
            <a:r>
              <a:t>Alerts, Team &amp; Playbooks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A8F98"/>
                </a:solidFill>
                <a:latin typeface="Calibri"/>
              </a:defRPr>
            </a:pPr>
            <a:r>
              <a:t>Real-time infrastructure alerts, team activity leaderboard, and reusable sales playbooks.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" y="1280160"/>
            <a:ext cx="3840480" cy="5303520"/>
          </a:xfrm>
          <a:prstGeom prst="roundRect">
            <a:avLst/>
          </a:prstGeom>
          <a:solidFill>
            <a:srgbClr val="0C0D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le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25880"/>
            <a:ext cx="3749039" cy="234314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297680" y="1280160"/>
            <a:ext cx="3840480" cy="5303520"/>
          </a:xfrm>
          <a:prstGeom prst="roundRect">
            <a:avLst/>
          </a:prstGeom>
          <a:solidFill>
            <a:srgbClr val="0C0D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e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1325880"/>
            <a:ext cx="3749039" cy="234314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275320" y="1280160"/>
            <a:ext cx="3703320" cy="5303520"/>
          </a:xfrm>
          <a:prstGeom prst="roundRect">
            <a:avLst/>
          </a:prstGeom>
          <a:solidFill>
            <a:srgbClr val="0C0D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laybook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0" y="1325880"/>
            <a:ext cx="3611880" cy="225742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743200" y="0"/>
            <a:ext cx="6400800" cy="4572000"/>
          </a:xfrm>
          <a:prstGeom prst="ellipse">
            <a:avLst/>
          </a:prstGeom>
          <a:solidFill>
            <a:srgbClr val="1A1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731520"/>
            <a:ext cx="1371600" cy="38100"/>
          </a:xfrm>
          <a:prstGeom prst="rect">
            <a:avLst/>
          </a:prstGeom>
          <a:solidFill>
            <a:srgbClr val="7C7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7F8F8"/>
                </a:solidFill>
                <a:latin typeface="Calibri"/>
              </a:defRPr>
            </a:pPr>
            <a:r>
              <a:t>RevFlare by the Numbers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011680" cy="1005840"/>
          </a:xfrm>
          <a:prstGeom prst="roundRect">
            <a:avLst/>
          </a:prstGeom>
          <a:solidFill>
            <a:srgbClr val="1E1F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2011680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34D399"/>
                </a:solidFill>
                <a:latin typeface="Calibri"/>
              </a:defRPr>
            </a:pPr>
            <a:r>
              <a:t>~8,600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4688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A8F98"/>
                </a:solidFill>
                <a:latin typeface="Calibri"/>
              </a:defRPr>
            </a:pPr>
            <a:r>
              <a:t>Lines of Code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80360" y="1828800"/>
            <a:ext cx="2011680" cy="1005840"/>
          </a:xfrm>
          <a:prstGeom prst="roundRect">
            <a:avLst/>
          </a:prstGeom>
          <a:solidFill>
            <a:srgbClr val="1E1F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880360" y="1828800"/>
            <a:ext cx="2011680" cy="381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63240" y="20116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60A5FA"/>
                </a:solidFill>
                <a:latin typeface="Calibri"/>
              </a:defRPr>
            </a:pPr>
            <a:r>
              <a:t>17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3240" y="24688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A8F98"/>
                </a:solidFill>
                <a:latin typeface="Calibri"/>
              </a:defRPr>
            </a:pPr>
            <a:r>
              <a:t>DB Tables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1828800"/>
            <a:ext cx="2011680" cy="1005840"/>
          </a:xfrm>
          <a:prstGeom prst="roundRect">
            <a:avLst/>
          </a:prstGeom>
          <a:solidFill>
            <a:srgbClr val="1E1F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20640" y="1828800"/>
            <a:ext cx="2011680" cy="381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0" y="20116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A78BFA"/>
                </a:solidFill>
                <a:latin typeface="Calibri"/>
              </a:defRPr>
            </a:pPr>
            <a:r>
              <a:t>60+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24688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A8F98"/>
                </a:solidFill>
                <a:latin typeface="Calibri"/>
              </a:defRPr>
            </a:pPr>
            <a:r>
              <a:t>API Endpoints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60920" y="1828800"/>
            <a:ext cx="2011680" cy="1005840"/>
          </a:xfrm>
          <a:prstGeom prst="roundRect">
            <a:avLst/>
          </a:prstGeom>
          <a:solidFill>
            <a:srgbClr val="1E1F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60920" y="1828800"/>
            <a:ext cx="2011680" cy="3810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43800" y="20116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BBF24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43800" y="24688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A8F98"/>
                </a:solidFill>
                <a:latin typeface="Calibri"/>
              </a:defRPr>
            </a:pPr>
            <a:r>
              <a:t>Live Probes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1828800"/>
            <a:ext cx="2011680" cy="1005840"/>
          </a:xfrm>
          <a:prstGeom prst="roundRect">
            <a:avLst/>
          </a:prstGeom>
          <a:solidFill>
            <a:srgbClr val="1E1F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601200" y="1828800"/>
            <a:ext cx="2011680" cy="38100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84080" y="20116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B923C"/>
                </a:solidFill>
                <a:latin typeface="Calibri"/>
              </a:defRPr>
            </a:pPr>
            <a:r>
              <a:t>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84080" y="24688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A8F98"/>
                </a:solidFill>
                <a:latin typeface="Calibri"/>
              </a:defRPr>
            </a:pPr>
            <a:r>
              <a:t>Email Variants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3200400"/>
            <a:ext cx="2011680" cy="1005840"/>
          </a:xfrm>
          <a:prstGeom prst="roundRect">
            <a:avLst/>
          </a:prstGeom>
          <a:solidFill>
            <a:srgbClr val="1E1F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3200400"/>
            <a:ext cx="2011680" cy="381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33832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87171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38404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A8F98"/>
                </a:solidFill>
                <a:latin typeface="Calibri"/>
              </a:defRPr>
            </a:pPr>
            <a:r>
              <a:t>Competitive Cats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880360" y="3200400"/>
            <a:ext cx="2011680" cy="1005840"/>
          </a:xfrm>
          <a:prstGeom prst="roundRect">
            <a:avLst/>
          </a:prstGeom>
          <a:solidFill>
            <a:srgbClr val="1E1F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880360" y="3200400"/>
            <a:ext cx="2011680" cy="38100"/>
          </a:xfrm>
          <a:prstGeom prst="rect">
            <a:avLst/>
          </a:prstGeom>
          <a:solidFill>
            <a:srgbClr val="7C7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063240" y="33832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7C7FFF"/>
                </a:solidFill>
                <a:latin typeface="Calibri"/>
              </a:defRPr>
            </a:pPr>
            <a:r>
              <a:t>40+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63240" y="38404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A8F98"/>
                </a:solidFill>
                <a:latin typeface="Calibri"/>
              </a:defRPr>
            </a:pPr>
            <a:r>
              <a:t>Competitors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120640" y="3200400"/>
            <a:ext cx="2011680" cy="1005840"/>
          </a:xfrm>
          <a:prstGeom prst="roundRect">
            <a:avLst/>
          </a:prstGeom>
          <a:solidFill>
            <a:srgbClr val="1E1F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120640" y="3200400"/>
            <a:ext cx="2011680" cy="381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03520" y="33832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87171"/>
                </a:solidFill>
                <a:latin typeface="Calibri"/>
              </a:defRPr>
            </a:pPr>
            <a:r>
              <a:t>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03520" y="38404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A8F98"/>
                </a:solidFill>
                <a:latin typeface="Calibri"/>
              </a:defRPr>
            </a:pPr>
            <a:r>
              <a:t>Threat Feeds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360920" y="3200400"/>
            <a:ext cx="2011680" cy="1005840"/>
          </a:xfrm>
          <a:prstGeom prst="roundRect">
            <a:avLst/>
          </a:prstGeom>
          <a:solidFill>
            <a:srgbClr val="1E1F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360920" y="3200400"/>
            <a:ext cx="2011680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43800" y="33832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34D399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43800" y="38404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A8F98"/>
                </a:solidFill>
                <a:latin typeface="Calibri"/>
              </a:defRPr>
            </a:pPr>
            <a:r>
              <a:t>Personas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601200" y="3200400"/>
            <a:ext cx="2011680" cy="1005840"/>
          </a:xfrm>
          <a:prstGeom prst="roundRect">
            <a:avLst/>
          </a:prstGeom>
          <a:solidFill>
            <a:srgbClr val="1E1F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601200" y="3200400"/>
            <a:ext cx="2011680" cy="3810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784080" y="33832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BBF24"/>
                </a:solidFill>
                <a:latin typeface="Calibr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784080" y="38404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A8F98"/>
                </a:solidFill>
                <a:latin typeface="Calibri"/>
              </a:defRPr>
            </a:pPr>
            <a:r>
              <a:t>Infra Cost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286000" y="4937760"/>
            <a:ext cx="7589520" cy="1463040"/>
          </a:xfrm>
          <a:prstGeom prst="roundRect">
            <a:avLst/>
          </a:prstGeom>
          <a:solidFill>
            <a:srgbClr val="161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286000" y="5029200"/>
            <a:ext cx="7589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7C7FFF"/>
                </a:solidFill>
                <a:latin typeface="Calibri"/>
              </a:defRPr>
            </a:pPr>
            <a:r>
              <a:t>revflare.arunpotta1024.workers.dev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286000" y="5486400"/>
            <a:ext cx="7589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A8F98"/>
                </a:solidFill>
                <a:latin typeface="Calibri"/>
              </a:defRPr>
            </a:pPr>
            <a:r>
              <a:t>github.com/pottaarun/RevFlare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286000" y="5852160"/>
            <a:ext cx="7589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A5E66"/>
                </a:solidFill>
                <a:latin typeface="Calibri"/>
              </a:defRPr>
            </a:pPr>
            <a:r>
              <a:t>Built by Arun Potta  |  Powered by Cloudflare Workers + 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