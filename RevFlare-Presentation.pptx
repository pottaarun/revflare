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7F8F8"/>
                </a:solidFill>
                <a:latin typeface="Calibri"/>
              </a:defRPr>
            </a:pPr>
            <a:r>
              <a:t>RevFlare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7C7FFF"/>
                </a:solidFill>
                <a:latin typeface="Calibri"/>
              </a:defRPr>
            </a:pPr>
            <a:r>
              <a:t>AI-Powered Sales Intelligence for Cloudflare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98"/>
                </a:solidFill>
                <a:latin typeface="Calibri"/>
              </a:defRPr>
            </a:pPr>
            <a:r>
              <a:t>A single Cloudflare Worker powering deep account research, persona-curated outreach, competitive intelligence, threat monitoring, autonomous pipeline generation, MCP integrations, and compliant email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E66"/>
                </a:solidFill>
                <a:latin typeface="Calibri"/>
              </a:defRPr>
            </a:pPr>
            <a:r>
              <a:t>Built by Arun Potta  |  Powered by Cloudflare Workers +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F8F8"/>
                </a:solidFill>
                <a:latin typeface="Calibri"/>
              </a:defRPr>
            </a:pPr>
            <a:r>
              <a:t>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  <a:latin typeface="Calibri"/>
              </a:defRPr>
            </a:pPr>
            <a:r>
              <a:t>RevFlare transforms how sales teams prospect, research, approve, and close deals.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5029200" cy="50292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38100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10x Faster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47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C9D4"/>
                </a:solidFill>
                <a:latin typeface="Calibri"/>
              </a:defRPr>
            </a:pPr>
            <a:r>
              <a:t>8 live probes in parallel. 45 min -&gt; 10 sec per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5029200" cy="50292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331720"/>
            <a:ext cx="3810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3x Higher Reply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877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C9D4"/>
                </a:solidFill>
                <a:latin typeface="Calibri"/>
              </a:defRPr>
            </a:pPr>
            <a:r>
              <a:t>25 persona variants + AI chat refinement. Not templates.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71800"/>
            <a:ext cx="5029200" cy="50292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971800"/>
            <a:ext cx="3810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017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100% Pipeline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278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C9D4"/>
                </a:solidFill>
                <a:latin typeface="Calibri"/>
              </a:defRPr>
            </a:pPr>
            <a:r>
              <a:t>AI agent auto-generates opps with realistic ACV.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11879"/>
            <a:ext cx="5029200" cy="50292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611879"/>
            <a:ext cx="381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65759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Open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67911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C9D4"/>
                </a:solidFill>
                <a:latin typeface="Calibri"/>
              </a:defRPr>
            </a:pPr>
            <a:r>
              <a:t>MCP client + server. Bring your own tools &amp; agents.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WITHOUT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554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WITH REVFLARE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874519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92023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12140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468879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51459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1576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Reply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63239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1089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31012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657600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703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10+ tabs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90448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Per prospect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874519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92023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10 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12140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2468879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51459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6-8%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271576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Reply rate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063239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1089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1 click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310127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3657600"/>
            <a:ext cx="2468880" cy="45720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3703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1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390448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Unified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4434840"/>
            <a:ext cx="10332720" cy="41148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"/>
              </a:defRPr>
            </a:pPr>
            <a:r>
              <a:t>Annual value: 10 reps x 7.5 hrs/week saved x 50 weeks x $75/hr = $281,250 in recovered selling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5E66"/>
                </a:solidFill>
                <a:latin typeface="Calibri"/>
              </a:defRPr>
            </a:pPr>
            <a:r>
              <a:t>CLOUDFLARE EDGE ARCHITECTURE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5440680"/>
            <a:ext cx="1645920" cy="10515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5440680"/>
            <a:ext cx="164592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7FFF"/>
                </a:solidFill>
                <a:latin typeface="Calibri"/>
              </a:defRPr>
            </a:pPr>
            <a:r>
              <a:t>Workers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" y="5897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App server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0" y="5440680"/>
            <a:ext cx="1645920" cy="10515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0" y="5440680"/>
            <a:ext cx="16459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52928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D1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52928" y="5897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29 tables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0" y="5440680"/>
            <a:ext cx="1645920" cy="10515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0" y="544068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81728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Workers 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81728" y="5897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3 LLMs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5440680"/>
            <a:ext cx="1645920" cy="10515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5440680"/>
            <a:ext cx="16459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0528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0528" y="5897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Scraping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29600" y="5440680"/>
            <a:ext cx="1645920" cy="10515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0" y="5440680"/>
            <a:ext cx="16459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39328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KV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9328" y="5897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Cache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58400" y="5440680"/>
            <a:ext cx="1645920" cy="10515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0" y="5440680"/>
            <a:ext cx="164592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5623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Cron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68128" y="5897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F98"/>
                </a:solidFill>
                <a:latin typeface="Calibri"/>
              </a:defRPr>
            </a:pPr>
            <a:r>
              <a:t>Auto-send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8F8"/>
                </a:solidFill>
                <a:latin typeface="Calibri"/>
              </a:defRPr>
            </a:pPr>
            <a:r>
              <a:t>Account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98"/>
                </a:solidFill>
                <a:latin typeface="Calibri"/>
              </a:defRPr>
            </a:pPr>
            <a:r>
              <a:t>2,307 accounts with IT spend, competitor stack, and engagement signals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55680" cy="5257800"/>
          </a:xfrm>
          <a:prstGeom prst="round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26617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8F8"/>
                </a:solidFill>
                <a:latin typeface="Calibri"/>
              </a:defRPr>
            </a:pPr>
            <a:r>
              <a:t>Pipeline &amp; AI Lead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98"/>
                </a:solidFill>
                <a:latin typeface="Calibri"/>
              </a:defRPr>
            </a:pPr>
            <a:r>
              <a:t>Left: AI Opportunity Agent auto-generates deals with ACV.  Right: 8-factor lead scoring ranks every account 0-100.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5806440" cy="5303520"/>
          </a:xfrm>
          <a:prstGeom prst="round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715000" cy="35718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280160"/>
            <a:ext cx="5715000" cy="5303520"/>
          </a:xfrm>
          <a:prstGeom prst="round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d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62356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7F8F8"/>
                </a:solidFill>
                <a:latin typeface="Calibri"/>
              </a:defRPr>
            </a:pPr>
            <a:r>
              <a:t>20 Features + Competitive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893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Lead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904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AI 0-100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2344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123444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2893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ROI Calc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4904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Savings 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344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2344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2893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Lookalikes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4904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Match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12344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79" y="123444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2893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Meeting Prep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4904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Call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2344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23444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2893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Calibri"/>
              </a:defRPr>
            </a:pPr>
            <a:r>
              <a:t>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4904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Auto-execute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9202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920240"/>
            <a:ext cx="13716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19751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Change Detect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21762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Infra scan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19202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65960" y="192024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9112" y="19751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7FFF"/>
                </a:solidFill>
                <a:latin typeface="Calibri"/>
              </a:defRPr>
            </a:pPr>
            <a:r>
              <a:t>A/B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39112" y="21762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2 variants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19202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0" y="19202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19751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Voice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21762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To email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79" y="19202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83479" y="1920240"/>
            <a:ext cx="13716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56631" y="19751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6631" y="21762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+ AI products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9202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192024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19751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Team Dash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21762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Leaderboard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26060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26060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26609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Playbooks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65960" y="26060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65960" y="260604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9112" y="26609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39112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AI-ranked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0" y="26060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74720" y="26060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47872" y="26609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7872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ACV track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83479" y="26060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3479" y="260604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56631" y="26609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Calibri"/>
              </a:defRPr>
            </a:pPr>
            <a:r>
              <a:t>Win/Loss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56631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92240" y="26060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92240" y="260604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65392" y="26609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7FFF"/>
                </a:solidFill>
                <a:latin typeface="Calibri"/>
              </a:defRPr>
            </a:pPr>
            <a:r>
              <a:t>Opp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65392" y="28620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Auto gen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2918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7200" y="32918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3346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Email Approval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" y="3547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Review &amp; gate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965960" y="32918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65960" y="3291840"/>
            <a:ext cx="1371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39112" y="3346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AI Chat Refine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39112" y="3547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Rewrite in place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474720" y="32918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74720" y="329184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47872" y="3346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Open Tracking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47872" y="3547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Pixel + stats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83479" y="32918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83479" y="329184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56631" y="3346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CAN-SPAM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56631" y="3547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Unsubscribe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92240" y="3291840"/>
            <a:ext cx="1371600" cy="56692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92240" y="329184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65392" y="334670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Calibri"/>
              </a:defRPr>
            </a:pPr>
            <a:r>
              <a:t>MCP Gateway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65392" y="354787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Client + server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01000" y="1143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E66"/>
                </a:solidFill>
                <a:latin typeface="Calibri"/>
              </a:defRPr>
            </a:pPr>
            <a:r>
              <a:t>COMPETITIVE (12 CATEGORIES, 40+ RIVALS)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01000" y="1463040"/>
            <a:ext cx="3749039" cy="29260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19872" y="149961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CDN -- Akamai, CloudFront, Fastly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001000" y="1847088"/>
            <a:ext cx="3749039" cy="29260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19872" y="1883664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WAF -- Imperva, AWS WAF, F5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001000" y="2231136"/>
            <a:ext cx="3749039" cy="29260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19872" y="226771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DDoS -- Prolexic, AWS Shield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01000" y="2615184"/>
            <a:ext cx="3749039" cy="29260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19872" y="265176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Zero Trust -- Zscaler, Palo Alto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01000" y="2999232"/>
            <a:ext cx="3749039" cy="29260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19872" y="3035808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Edge Compute -- Lambda@Edge, Vercel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001000" y="3383280"/>
            <a:ext cx="3749039" cy="292608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19872" y="341985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DNS -- Route 53, NS1, Google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4160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E66"/>
                </a:solidFill>
                <a:latin typeface="Calibri"/>
              </a:defRPr>
            </a:pPr>
            <a:r>
              <a:t>THREAT INTELLIGENCE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4434840"/>
            <a:ext cx="2194560" cy="54864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7200" y="4434840"/>
            <a:ext cx="38100" cy="548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4360" y="44714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26 RSS Feeds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94360" y="46908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Real-time incidents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788920" y="4434840"/>
            <a:ext cx="2194560" cy="54864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788920" y="4434840"/>
            <a:ext cx="3810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926080" y="44714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GDELT + 5 News APIs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26080" y="46908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Google, Bing, NewsAPI, GNews, MediaStack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120640" y="4434840"/>
            <a:ext cx="2194560" cy="54864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120640" y="4434840"/>
            <a:ext cx="38100" cy="5486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57800" y="44714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Auto-Match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57800" y="46908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By industry &amp; country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452359" y="4434840"/>
            <a:ext cx="2194560" cy="54864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52359" y="4434840"/>
            <a:ext cx="38100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589519" y="44714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Calibri"/>
              </a:defRPr>
            </a:pPr>
            <a:r>
              <a:t>Trigger Emails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89519" y="46908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Incident outreach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784080" y="4434840"/>
            <a:ext cx="2194560" cy="54864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84080" y="4434840"/>
            <a:ext cx="3810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921240" y="447141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Nightly Cron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469087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F98"/>
                </a:solidFill>
                <a:latin typeface="Calibri"/>
              </a:defRPr>
            </a:pPr>
            <a:r>
              <a:t>Daily scan + alerts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5166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E66"/>
                </a:solidFill>
                <a:latin typeface="Calibri"/>
              </a:defRPr>
            </a:pPr>
            <a:r>
              <a:t>SECURITY &amp; INTEGRATIONS (47 FIXES ACROSS 3 AUDIT ROUNDS)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57200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57200" y="5440680"/>
            <a:ext cx="1097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0352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4D399"/>
                </a:solidFill>
                <a:latin typeface="Calibri"/>
              </a:defRPr>
            </a:pPr>
            <a:r>
              <a:t>Access JWT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18488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618488" y="5440680"/>
            <a:ext cx="10972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91640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Calibri"/>
              </a:defRPr>
            </a:pPr>
            <a:r>
              <a:t>AES-256-GCM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779776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779776" y="5440680"/>
            <a:ext cx="10972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852928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87171"/>
                </a:solidFill>
                <a:latin typeface="Calibri"/>
              </a:defRPr>
            </a:pPr>
            <a:r>
              <a:t>SSRF Block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941064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941064" y="5440680"/>
            <a:ext cx="10972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014216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BF24"/>
                </a:solidFill>
                <a:latin typeface="Calibri"/>
              </a:defRPr>
            </a:pPr>
            <a:r>
              <a:t>XSS Escaped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102352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102352" y="544068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175504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Calibri"/>
              </a:defRPr>
            </a:pPr>
            <a:r>
              <a:t>SOQL Safe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63640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263640" y="5440680"/>
            <a:ext cx="109728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36792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C7FFF"/>
                </a:solidFill>
                <a:latin typeface="Calibri"/>
              </a:defRPr>
            </a:pPr>
            <a:r>
              <a:t>CORS Locked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424928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424928" y="5440680"/>
            <a:ext cx="1097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98080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4D399"/>
                </a:solidFill>
                <a:latin typeface="Calibri"/>
              </a:defRPr>
            </a:pPr>
            <a:r>
              <a:t>Gmail OAuth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586216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586216" y="5440680"/>
            <a:ext cx="10972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659368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Calibri"/>
              </a:defRPr>
            </a:pPr>
            <a:r>
              <a:t>SF OAuth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747504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747504" y="544068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820656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Calibri"/>
              </a:defRPr>
            </a:pPr>
            <a:r>
              <a:t>Share Links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908792" y="5440680"/>
            <a:ext cx="1097280" cy="36576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908792" y="5440680"/>
            <a:ext cx="10972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981944" y="551383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B923C"/>
                </a:solidFill>
                <a:latin typeface="Calibri"/>
              </a:defRPr>
            </a:pPr>
            <a:r>
              <a:t>MCP Secure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8F8"/>
                </a:solidFill>
                <a:latin typeface="Calibri"/>
              </a:defRPr>
            </a:pPr>
            <a:r>
              <a:t>Alerts, Team &amp;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98"/>
                </a:solidFill>
                <a:latin typeface="Calibri"/>
              </a:defRPr>
            </a:pPr>
            <a:r>
              <a:t>Real-time infrastructure alerts, team activity leaderboard, and reusable sales playbooks.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3840480" cy="5303520"/>
          </a:xfrm>
          <a:prstGeom prst="round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3749039" cy="23431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97680" y="1280160"/>
            <a:ext cx="3840480" cy="5303520"/>
          </a:xfrm>
          <a:prstGeom prst="round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749039" cy="23431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80160"/>
            <a:ext cx="3703320" cy="5303520"/>
          </a:xfrm>
          <a:prstGeom prst="roundRect">
            <a:avLst/>
          </a:prstGeom>
          <a:solidFill>
            <a:srgbClr val="0C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ayboo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325880"/>
            <a:ext cx="361188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F8F8"/>
                </a:solidFill>
                <a:latin typeface="Calibri"/>
              </a:defRPr>
            </a:pPr>
            <a:r>
              <a:t>Open Ecosystem, Compliant Outreach,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98"/>
                </a:solidFill>
                <a:latin typeface="Calibri"/>
              </a:defRPr>
            </a:pPr>
            <a:r>
              <a:t>Four new capabilities bringing RevFlare from standalone tool to enterprise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669280" cy="251460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6692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Calibri"/>
              </a:defRPr>
            </a:pPr>
            <a:r>
              <a:t>MCP (Model Context Protocol)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Bi-directional. Client +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E66"/>
                </a:solidFill>
                <a:latin typeface="Calibri"/>
              </a:defRPr>
            </a:pPr>
            <a:r>
              <a:t>AS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Netstrat (network + strategy)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Google Workspace (calendar, contacts)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340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Wiki (internal knowledge)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Jira (issue context)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363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Cloudflare Docs (product lookup)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SSRF-hardened URL validator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488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5E66"/>
                </a:solidFill>
                <a:latin typeface="Calibri"/>
              </a:defRPr>
            </a:pPr>
            <a:r>
              <a:t>AS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31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lookup_account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328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get_lead_score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340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get_account_research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9352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get_pipeline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136391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get_alerts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37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4C9D4"/>
                </a:solidFill>
                <a:latin typeface="Calibri"/>
              </a:defRPr>
            </a:pPr>
            <a:r>
              <a:t>+ get_email_stats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63040"/>
            <a:ext cx="5669280" cy="251460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463040"/>
            <a:ext cx="56692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AI Chat Email Refinement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Conversational rewrites. Full turn history.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94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Plain-English instructions: "make it shorter, lead with ROI"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450591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Llama 3.3 70B multi-turn with context memory (20 prior turns)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066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Rewrites in place, resets to pending_approval for re-review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962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Full chat history persisted per message for auditability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186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Works on persona messages AND campaign emails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474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Subject line auto-extracted and updated alongside 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5669280" cy="251460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5669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Email Tracking &amp; CAN-SPAM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80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Opens, unsubscribes, suppression - built 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846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+ 1x1 tracking pixel per email (unique tracking_id)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1023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One-click List-Unsubscribe header + landing page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58383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Per-user suppression list (bounces, complaints)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144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Auto-block of suppressed addresses before send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704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Public endpoints bypass Access for deliverability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26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Gmail signature auto-appended to every outbound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4114800"/>
            <a:ext cx="5669280" cy="251460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114800"/>
            <a:ext cx="5669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Email Performance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480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Funnel, trends, suppression - one screen.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846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Sent / opened / replied rates per 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1023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Daily send trend (last 14 days) with cap 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358383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Per-campaign funnel (last 20 campaigns)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6144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Suppression list management with remove button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8704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Today's usage vs 100/day cap (reputation protection)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6126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C9D4"/>
                </a:solidFill>
                <a:latin typeface="Calibri"/>
              </a:defRPr>
            </a:pPr>
            <a:r>
              <a:t>+ Per-message open count + reply flag on every email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4572000"/>
          </a:xfrm>
          <a:prstGeom prst="ellipse">
            <a:avLst/>
          </a:prstGeom>
          <a:solidFill>
            <a:srgbClr val="1A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37160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7F8F8"/>
                </a:solidFill>
                <a:latin typeface="Calibri"/>
              </a:defRPr>
            </a:pPr>
            <a:r>
              <a:t>RevFlare 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0116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Calibri"/>
              </a:defRPr>
            </a:pPr>
            <a:r>
              <a:t>~12,700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828800"/>
            <a:ext cx="20116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0A5FA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DB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20116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A78BFA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8288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828800"/>
            <a:ext cx="20116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BBF2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Live Probes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828800"/>
            <a:ext cx="20116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B923C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Email Variants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004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200400"/>
            <a:ext cx="20116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7171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Competitive Cats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2004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80360" y="3200400"/>
            <a:ext cx="2011680" cy="38100"/>
          </a:xfrm>
          <a:prstGeom prst="rect">
            <a:avLst/>
          </a:prstGeom>
          <a:solidFill>
            <a:srgbClr val="7C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7C7FFF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Competitors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32004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3200400"/>
            <a:ext cx="20116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7171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Threat Feeds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32004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20" y="3200400"/>
            <a:ext cx="20116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Personas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3200400"/>
            <a:ext cx="2011680" cy="1005840"/>
          </a:xfrm>
          <a:prstGeom prst="roundRect">
            <a:avLst/>
          </a:prstGeom>
          <a:solidFill>
            <a:srgbClr val="1E1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0" y="3200400"/>
            <a:ext cx="201168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BBF24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98"/>
                </a:solidFill>
                <a:latin typeface="Calibri"/>
              </a:defRPr>
            </a:pPr>
            <a:r>
              <a:t>Infra Cost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4937760"/>
            <a:ext cx="7589520" cy="1463040"/>
          </a:xfrm>
          <a:prstGeom prst="roundRect">
            <a:avLst/>
          </a:prstGeom>
          <a:solidFill>
            <a:srgbClr val="1617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0" y="50292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7FFF"/>
                </a:solidFill>
                <a:latin typeface="Calibri"/>
              </a:defRPr>
            </a:pPr>
            <a:r>
              <a:t>revflare.arunpotta1024.workers.dev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54864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F98"/>
                </a:solidFill>
                <a:latin typeface="Calibri"/>
              </a:defRPr>
            </a:pPr>
            <a:r>
              <a:t>github.com/pottaarun/RevFlare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852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5E66"/>
                </a:solidFill>
                <a:latin typeface="Calibri"/>
              </a:defRPr>
            </a:pPr>
            <a:r>
              <a:t>Built by Arun Potta  |  Powered by Cloudflare Workers +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