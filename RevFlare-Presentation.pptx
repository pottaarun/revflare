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18288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7F8F8"/>
                </a:solidFill>
                <a:latin typeface="Calibri"/>
              </a:defRPr>
            </a:pPr>
            <a:r>
              <a:t>RevFlare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7C7FFF"/>
                </a:solidFill>
                <a:latin typeface="Calibri"/>
              </a:defRPr>
            </a:pPr>
            <a:r>
              <a:t>AI-Powered Sales Intelligence for Cloudflare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8F98"/>
                </a:solidFill>
                <a:latin typeface="Calibri"/>
              </a:defRPr>
            </a:pPr>
            <a:r>
              <a:t>A single Cloudflare Worker powering deep account research, persona-curated outreach, competitive intelligence, threat monitoring, and autonomous pipeline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E66"/>
                </a:solidFill>
                <a:latin typeface="Calibri"/>
              </a:defRPr>
            </a:pPr>
            <a:r>
              <a:t>Built by Arun Potta  |  Powered by Cloudflare Workers +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7F8F8"/>
                </a:solidFill>
                <a:latin typeface="Calibri"/>
              </a:defRPr>
            </a:pPr>
            <a:r>
              <a:t>Business Value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F98"/>
                </a:solidFill>
                <a:latin typeface="Calibri"/>
              </a:defRPr>
            </a:pPr>
            <a:r>
              <a:t>RevFlare transforms how sales teams prospect, research, and close deals.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91640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38100" cy="5029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10x Faster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4767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8 live probes in parallel. 45 min -&gt; 10 sec per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331720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331720"/>
            <a:ext cx="3810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77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3x Higher Reply Rates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8775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25 persona-specific variants with live data. Not templates.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971800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71800"/>
            <a:ext cx="38100" cy="5029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017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100% Pipeline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22783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AI agent auto-generates opps with realistic ACV.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611879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3611879"/>
            <a:ext cx="38100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657599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$0 Infrastructure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867911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Runs entirely on Cloudflare. No servers, no SaaS fees.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54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WITHOUT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554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WITH REVFLARE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87451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92023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12140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Research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46887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51459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71576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Reply 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06323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10895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Manual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31012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657600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7033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10+ tabs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04488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Per prospect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87451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192023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10 sec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12140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Research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246887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251459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6-8%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271576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Reply rate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306323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81160" y="310895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 click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31012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3657600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81160" y="37033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 platform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3904488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Unified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" y="4434840"/>
            <a:ext cx="10332720" cy="41148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446227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4D399"/>
                </a:solidFill>
                <a:latin typeface="Calibri"/>
              </a:defRPr>
            </a:pPr>
            <a:r>
              <a:t>Annual value: 10 reps x 7.5 hrs/week saved x 50 weeks x $75/hr = $281,250 in recovered selling time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1206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A5E66"/>
                </a:solidFill>
                <a:latin typeface="Calibri"/>
              </a:defRPr>
            </a:pPr>
            <a:r>
              <a:t>CLOUDFLARE EDGE ARCHITECTURE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5440680"/>
            <a:ext cx="164592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41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7FFF"/>
                </a:solidFill>
                <a:latin typeface="Calibri"/>
              </a:defRPr>
            </a:pPr>
            <a:r>
              <a:t>Workers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App server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0" y="5440680"/>
            <a:ext cx="16459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529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D1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529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5440680"/>
            <a:ext cx="164592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817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Workers AI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817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3 LLMs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008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5440680"/>
            <a:ext cx="16459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105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Browser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105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Scraping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29600" y="5440680"/>
            <a:ext cx="164592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93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Calibri"/>
              </a:defRPr>
            </a:pPr>
            <a:r>
              <a:t>KV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Cache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584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058400" y="5440680"/>
            <a:ext cx="164592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Calibri"/>
              </a:defRPr>
            </a:pPr>
            <a:r>
              <a:t>Access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681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Auth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F8F8"/>
                </a:solidFill>
                <a:latin typeface="Calibri"/>
              </a:defRPr>
            </a:pPr>
            <a:r>
              <a:t>Account Intelligence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F98"/>
                </a:solidFill>
                <a:latin typeface="Calibri"/>
              </a:defRPr>
            </a:pPr>
            <a:r>
              <a:t>2,307 accounts with IT spend, competitor stack, and engagement signals at a glance.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525780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266176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F8F8"/>
                </a:solidFill>
                <a:latin typeface="Calibri"/>
              </a:defRPr>
            </a:pPr>
            <a:r>
              <a:t>Pipeline &amp; AI Lead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F98"/>
                </a:solidFill>
                <a:latin typeface="Calibri"/>
              </a:defRPr>
            </a:pPr>
            <a:r>
              <a:t>Left: AI Opportunity Agent auto-generates deals with ACV.  Right: 8-factor lead scoring ranks every account 0-100.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80160"/>
            <a:ext cx="580644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715000" cy="35718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280160"/>
            <a:ext cx="571500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d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623560" cy="35147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7F8F8"/>
                </a:solidFill>
                <a:latin typeface="Calibri"/>
              </a:defRPr>
            </a:pPr>
            <a:r>
              <a:t>16 Features + Competitive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0759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Lead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2704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AI 0-100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23444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1234440"/>
            <a:ext cx="137160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9112" y="130759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ROI Calc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152704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Savings 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23444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234440"/>
            <a:ext cx="137160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0759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Calibri"/>
              </a:defRPr>
            </a:pPr>
            <a:r>
              <a:t>Lookalikes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2704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Match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79" y="123444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79" y="1234440"/>
            <a:ext cx="13716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30759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Meeting Prep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1" y="152704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Call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23444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1234440"/>
            <a:ext cx="137160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130759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923C"/>
                </a:solidFill>
                <a:latin typeface="Calibri"/>
              </a:defRPr>
            </a:pPr>
            <a:r>
              <a:t>Sequences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152704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Multi-touch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01168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011680"/>
            <a:ext cx="137160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208483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Change Detect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23042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Infra scan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201168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65960" y="201168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9112" y="208483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C7FFF"/>
                </a:solidFill>
                <a:latin typeface="Calibri"/>
              </a:defRPr>
            </a:pPr>
            <a:r>
              <a:t>A/B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39112" y="23042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2 variants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201168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0" y="201168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7872" y="208483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Voice 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47872" y="23042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To email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83479" y="201168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83479" y="2011680"/>
            <a:ext cx="137160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56631" y="208483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Alerts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6631" y="23042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Signals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201168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2011680"/>
            <a:ext cx="137160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208483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Team Dash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23042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Leaderboard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278892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2788920"/>
            <a:ext cx="137160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286207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Calibri"/>
              </a:defRPr>
            </a:pPr>
            <a:r>
              <a:t>Playbooks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" y="308152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Templates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65960" y="278892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965960" y="2788920"/>
            <a:ext cx="13716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39112" y="286207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Search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39112" y="308152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AI-ranked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74720" y="278892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0" y="278892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47872" y="286207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47872" y="308152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ACV track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83479" y="278892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83479" y="2788920"/>
            <a:ext cx="137160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56631" y="286207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923C"/>
                </a:solidFill>
                <a:latin typeface="Calibri"/>
              </a:defRPr>
            </a:pPr>
            <a:r>
              <a:t>Win/Loss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56631" y="308152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92240" y="278892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92240" y="278892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65392" y="286207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C7FFF"/>
                </a:solidFill>
                <a:latin typeface="Calibri"/>
              </a:defRPr>
            </a:pPr>
            <a:r>
              <a:t>Opp Agent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65392" y="308152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Auto gen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1371600" cy="64008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356616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0352" y="363931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Email Approval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0352" y="3858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Review &amp; gate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01000" y="11430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5E66"/>
                </a:solidFill>
                <a:latin typeface="Calibri"/>
              </a:defRPr>
            </a:pPr>
            <a:r>
              <a:t>COMPETITIVE (12 CATEGORIES, 40+ RIVALS)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01000" y="1463040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19872" y="1499616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CDN -- Akamai, CloudFront, Fastly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001000" y="1847088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19872" y="1883664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WAF -- Imperva, AWS WAF, F5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01000" y="2231136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19872" y="2267712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DDoS -- Prolexic, AWS Shield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01000" y="2615184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19872" y="2651760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Zero Trust -- Zscaler, Palo Alto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001000" y="2999232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19872" y="3035808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Edge Compute -- Lambda@Edge, Vercel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001000" y="3383280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19872" y="3419856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DNS -- Route 53, NS1, Google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3977639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5E66"/>
                </a:solidFill>
                <a:latin typeface="Calibri"/>
              </a:defRPr>
            </a:pPr>
            <a:r>
              <a:t>THREAT INTELLIGENCE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720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7200" y="4251960"/>
            <a:ext cx="38100" cy="5943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26 RSS Feeds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36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Real-time incidents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78892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88920" y="4251960"/>
            <a:ext cx="38100" cy="5943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92608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GDELT + 5 News APIs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8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Google, Bing, NewsAPI, GNews, MediaStack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12064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120640" y="4251960"/>
            <a:ext cx="38100" cy="5943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25780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Auto-Match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5780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By industry &amp; country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452359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52359" y="4251960"/>
            <a:ext cx="38100" cy="594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89519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Trigger Emails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89519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Incident outreach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408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784080" y="4251960"/>
            <a:ext cx="38100" cy="59436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92124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Calibri"/>
              </a:defRPr>
            </a:pPr>
            <a:r>
              <a:t>Nightly Cron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2124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Daily scan + alerts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7200" y="5074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5E66"/>
                </a:solidFill>
                <a:latin typeface="Calibri"/>
              </a:defRPr>
            </a:pPr>
            <a:r>
              <a:t>SECURITY &amp; INTEGRATIONS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5720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57200" y="5349240"/>
            <a:ext cx="11887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035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4D399"/>
                </a:solidFill>
                <a:latin typeface="Calibri"/>
              </a:defRPr>
            </a:pPr>
            <a:r>
              <a:t>Zero Trust Auth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73736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737360" y="5349240"/>
            <a:ext cx="11887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81051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0A5FA"/>
                </a:solidFill>
                <a:latin typeface="Calibri"/>
              </a:defRPr>
            </a:pPr>
            <a:r>
              <a:t>AES-256-GCM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01752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017520" y="5349240"/>
            <a:ext cx="118872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09067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87171"/>
                </a:solidFill>
                <a:latin typeface="Calibri"/>
              </a:defRPr>
            </a:pPr>
            <a:r>
              <a:t>SSRF Block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297679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97679" y="5349240"/>
            <a:ext cx="118872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370831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Calibri"/>
              </a:defRPr>
            </a:pPr>
            <a:r>
              <a:t>XSS Escaped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57784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577840" y="5349240"/>
            <a:ext cx="118872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5099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A78BFA"/>
                </a:solidFill>
                <a:latin typeface="Calibri"/>
              </a:defRPr>
            </a:pPr>
            <a:r>
              <a:t>SOQL Safe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85800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858000" y="5349240"/>
            <a:ext cx="118872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93115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C7FFF"/>
                </a:solidFill>
                <a:latin typeface="Calibri"/>
              </a:defRPr>
            </a:pPr>
            <a:r>
              <a:t>CORS Locked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138159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38159" y="5349240"/>
            <a:ext cx="11887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11311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4D399"/>
                </a:solidFill>
                <a:latin typeface="Calibri"/>
              </a:defRPr>
            </a:pPr>
            <a:r>
              <a:t>Gmail OAuth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418319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418319" y="5349240"/>
            <a:ext cx="11887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491471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0A5FA"/>
                </a:solidFill>
                <a:latin typeface="Calibri"/>
              </a:defRPr>
            </a:pPr>
            <a:r>
              <a:t>Salesforce OAuth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69848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698480" y="5349240"/>
            <a:ext cx="118872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77163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A78BFA"/>
                </a:solidFill>
                <a:latin typeface="Calibri"/>
              </a:defRPr>
            </a:pPr>
            <a:r>
              <a:t>Share Links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F8F8"/>
                </a:solidFill>
                <a:latin typeface="Calibri"/>
              </a:defRPr>
            </a:pPr>
            <a:r>
              <a:t>Alerts, Team &amp;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F98"/>
                </a:solidFill>
                <a:latin typeface="Calibri"/>
              </a:defRPr>
            </a:pPr>
            <a:r>
              <a:t>Real-time infrastructure alerts, team activity leaderboard, and reusable sales playbooks.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80160"/>
            <a:ext cx="384048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3749039" cy="23431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97680" y="1280160"/>
            <a:ext cx="384048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3749039" cy="23431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75320" y="1280160"/>
            <a:ext cx="370332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ayboo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325880"/>
            <a:ext cx="3611880" cy="22574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4572000"/>
          </a:xfrm>
          <a:prstGeom prst="ellipse">
            <a:avLst/>
          </a:prstGeom>
          <a:solidFill>
            <a:srgbClr val="1A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73152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7F8F8"/>
                </a:solidFill>
                <a:latin typeface="Calibri"/>
              </a:defRPr>
            </a:pPr>
            <a:r>
              <a:t>RevFlare by the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0116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4D399"/>
                </a:solidFill>
                <a:latin typeface="Calibri"/>
              </a:defRPr>
            </a:pPr>
            <a:r>
              <a:t>~8,600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0360" y="1828800"/>
            <a:ext cx="201168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60A5FA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DB Tables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1828800"/>
            <a:ext cx="201168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A78BFA"/>
                </a:solidFill>
                <a:latin typeface="Calibri"/>
              </a:defRPr>
            </a:pPr>
            <a:r>
              <a:t>60+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API Endpoints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1828800"/>
            <a:ext cx="201168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BBF24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Live Probes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828800"/>
            <a:ext cx="201168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B923C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Email Variants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200400"/>
            <a:ext cx="20116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7171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Competitive Cats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80360" y="3200400"/>
            <a:ext cx="201168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6324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7C7FFF"/>
                </a:solidFill>
                <a:latin typeface="Calibri"/>
              </a:defRPr>
            </a:pPr>
            <a:r>
              <a:t>40+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Competitors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20640" y="3200400"/>
            <a:ext cx="20116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7171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Threat Feeds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6092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3200400"/>
            <a:ext cx="20116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4380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4D3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Personas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0" y="3200400"/>
            <a:ext cx="201168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8408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BBF24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Infra Cost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4937760"/>
            <a:ext cx="7589520" cy="146304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C7FFF"/>
                </a:solidFill>
                <a:latin typeface="Calibri"/>
              </a:defRPr>
            </a:pPr>
            <a:r>
              <a:t>revflare.arunpotta1024.workers.dev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0" y="548640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A8F98"/>
                </a:solidFill>
                <a:latin typeface="Calibri"/>
              </a:defRPr>
            </a:pPr>
            <a:r>
              <a:t>github.com/pottaarun/RevFlare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85216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E66"/>
                </a:solidFill>
                <a:latin typeface="Calibri"/>
              </a:defRPr>
            </a:pPr>
            <a:r>
              <a:t>Built by Arun Potta  |  Powered by Cloudflare Workers +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